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A766CF2-03E2-EA9B-132D-7C28D5338A35}">
          <p14:sldIdLst>
            <p14:sldId id="256"/>
          </p14:sldIdLst>
        </p14:section>
        <p14:section name="Problem &amp; Data" id="{D892E10E-BF4F-2B12-1A85-A03F27168699}">
          <p14:sldIdLst>
            <p14:sldId id="257"/>
            <p14:sldId id="258"/>
          </p14:sldIdLst>
        </p14:section>
        <p14:section name="Method" id="{1015862A-ACAA-F61C-10F3-7957CDA2A2DE}">
          <p14:sldIdLst>
            <p14:sldId id="259"/>
            <p14:sldId id="260"/>
            <p14:sldId id="261"/>
          </p14:sldIdLst>
        </p14:section>
        <p14:section name="Results" id="{EE0B45BA-3745-1038-5A2A-517E8EF2D328}">
          <p14:sldIdLst>
            <p14:sldId id="262"/>
            <p14:sldId id="263"/>
            <p14:sldId id="264"/>
          </p14:sldIdLst>
        </p14:section>
        <p14:section name="Deployment" id="{6A6640B4-A5CC-DA28-E179-C52B1B06EF96}">
          <p14:sldIdLst>
            <p14:sldId id="265"/>
            <p14:sldId id="266"/>
            <p14:sldId id="267"/>
            <p14:sldId id="268"/>
          </p14:sldIdLst>
        </p14:section>
        <p14:section name="Wrap-up" id="{B6F86F26-AE23-52D6-4C78-C4AF126D414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+mn-lt"/>
              </a:rPr>
              <a:t>Customers per segment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Average</c:v>
                </c:pt>
                <c:pt idx="1">
                  <c:v>Premium</c:v>
                </c:pt>
                <c:pt idx="2">
                  <c:v>Careful</c:v>
                </c:pt>
                <c:pt idx="3">
                  <c:v>Budget</c:v>
                </c:pt>
                <c:pt idx="4">
                  <c:v>Impulsive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</c:v>
                </c:pt>
                <c:pt idx="1">
                  <c:v>39</c:v>
                </c:pt>
                <c:pt idx="2">
                  <c:v>35</c:v>
                </c:pt>
                <c:pt idx="3">
                  <c:v>23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8A-400B-9421-D02444A634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755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circle 1"/>
          <p:cNvSpPr/>
          <p:nvPr/>
        </p:nvSpPr>
        <p:spPr>
          <a:xfrm>
            <a:off x="6035040" y="-822960"/>
            <a:ext cx="4389120" cy="438912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Deco circle 2"/>
          <p:cNvSpPr/>
          <p:nvPr/>
        </p:nvSpPr>
        <p:spPr>
          <a:xfrm>
            <a:off x="7498080" y="2377440"/>
            <a:ext cx="2926080" cy="292608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AI PROJECT DEPLOYMENT &amp; CAPSTONE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 Customer Segmentation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K-Means model to a deployed Flask application and prediction API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Why segment mall customers?</a:t>
            </a:r>
            <a:endParaRPr lang="en-US" sz="2800" dirty="0"/>
          </a:p>
        </p:txBody>
      </p:sp>
      <p:sp>
        <p:nvSpPr>
          <p:cNvPr id="3" name="Card Problem"/>
          <p:cNvSpPr/>
          <p:nvPr/>
        </p:nvSpPr>
        <p:spPr>
          <a:xfrm>
            <a:off x="457200" y="12344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Problem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is one-size-fits-all. The mall cannot tell which shoppers deserve loyalty rewards and which need discounts.</a:t>
            </a:r>
            <a:endParaRPr lang="en-US" sz="1400" dirty="0"/>
          </a:p>
        </p:txBody>
      </p:sp>
      <p:sp>
        <p:nvSpPr>
          <p:cNvPr id="8" name="Card Solution"/>
          <p:cNvSpPr/>
          <p:nvPr/>
        </p:nvSpPr>
        <p:spPr>
          <a:xfrm>
            <a:off x="3246120" y="12344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Solution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606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by income and spending score with K-Means, then serve the model through a web app and an API.</a:t>
            </a:r>
            <a:endParaRPr lang="en-US" sz="1400" dirty="0"/>
          </a:p>
        </p:txBody>
      </p:sp>
      <p:sp>
        <p:nvSpPr>
          <p:cNvPr id="13" name="Card Outcome"/>
          <p:cNvSpPr/>
          <p:nvPr/>
        </p:nvSpPr>
        <p:spPr>
          <a:xfrm>
            <a:off x="6035040" y="12344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Outcome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06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enter two numbers and instantly get a segment plus a marketing recommendation.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The dataset: 200 customers, 5 columns</a:t>
            </a:r>
            <a:endParaRPr lang="en-US" sz="2800" dirty="0"/>
          </a:p>
        </p:txBody>
      </p:sp>
      <p:sp>
        <p:nvSpPr>
          <p:cNvPr id="3" name="Stat customers"/>
          <p:cNvSpPr/>
          <p:nvPr/>
        </p:nvSpPr>
        <p:spPr>
          <a:xfrm>
            <a:off x="457200" y="1188720"/>
            <a:ext cx="32918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6" name="Stat rows removed in cleaning"/>
          <p:cNvSpPr/>
          <p:nvPr/>
        </p:nvSpPr>
        <p:spPr>
          <a:xfrm>
            <a:off x="457200" y="2377440"/>
            <a:ext cx="32918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774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 in cleaning</a:t>
            </a:r>
            <a:endParaRPr lang="en-US" sz="1400" dirty="0"/>
          </a:p>
        </p:txBody>
      </p:sp>
      <p:sp>
        <p:nvSpPr>
          <p:cNvPr id="9" name="Stat features used for clustering"/>
          <p:cNvSpPr/>
          <p:nvPr/>
        </p:nvSpPr>
        <p:spPr>
          <a:xfrm>
            <a:off x="457200" y="3566160"/>
            <a:ext cx="32918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5661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566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 for clustering</a:t>
            </a:r>
            <a:endParaRPr lang="en-US" sz="1400" dirty="0"/>
          </a:p>
        </p:txBody>
      </p:sp>
      <p:graphicFrame>
        <p:nvGraphicFramePr>
          <p:cNvPr id="12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Income (k$)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 Score (1-100)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End-to-end pipeline</a:t>
            </a:r>
            <a:endParaRPr lang="en-US" sz="2800" dirty="0"/>
          </a:p>
        </p:txBody>
      </p:sp>
      <p:sp>
        <p:nvSpPr>
          <p:cNvPr id="3" name="Step Clean"/>
          <p:cNvSpPr/>
          <p:nvPr/>
        </p:nvSpPr>
        <p:spPr>
          <a:xfrm>
            <a:off x="457200" y="1371600"/>
            <a:ext cx="1508760" cy="2651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badge Clean"/>
          <p:cNvSpPr/>
          <p:nvPr/>
        </p:nvSpPr>
        <p:spPr>
          <a:xfrm>
            <a:off x="960120" y="15544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0604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columns, drop duplicates and bad values</a:t>
            </a:r>
            <a:endParaRPr lang="en-US" sz="1200" dirty="0"/>
          </a:p>
        </p:txBody>
      </p:sp>
      <p:sp>
        <p:nvSpPr>
          <p:cNvPr id="8" name="Step Scale"/>
          <p:cNvSpPr/>
          <p:nvPr/>
        </p:nvSpPr>
        <p:spPr>
          <a:xfrm>
            <a:off x="2103120" y="1371600"/>
            <a:ext cx="1508760" cy="2651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badge Scale"/>
          <p:cNvSpPr/>
          <p:nvPr/>
        </p:nvSpPr>
        <p:spPr>
          <a:xfrm>
            <a:off x="26060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194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60604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keeps features comparable and safe to extend</a:t>
            </a:r>
            <a:endParaRPr lang="en-US" sz="1200" dirty="0"/>
          </a:p>
        </p:txBody>
      </p:sp>
      <p:sp>
        <p:nvSpPr>
          <p:cNvPr id="13" name="Step Cluster"/>
          <p:cNvSpPr/>
          <p:nvPr/>
        </p:nvSpPr>
        <p:spPr>
          <a:xfrm>
            <a:off x="3749040" y="1371600"/>
            <a:ext cx="1508760" cy="2651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badge Cluster"/>
          <p:cNvSpPr/>
          <p:nvPr/>
        </p:nvSpPr>
        <p:spPr>
          <a:xfrm>
            <a:off x="4251960" y="155448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519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194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60604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with K chosen by silhouette score</a:t>
            </a:r>
            <a:endParaRPr lang="en-US" sz="1200" dirty="0"/>
          </a:p>
        </p:txBody>
      </p:sp>
      <p:sp>
        <p:nvSpPr>
          <p:cNvPr id="18" name="Step Save"/>
          <p:cNvSpPr/>
          <p:nvPr/>
        </p:nvSpPr>
        <p:spPr>
          <a:xfrm>
            <a:off x="5394960" y="1371600"/>
            <a:ext cx="1508760" cy="2651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badge Save"/>
          <p:cNvSpPr/>
          <p:nvPr/>
        </p:nvSpPr>
        <p:spPr>
          <a:xfrm>
            <a:off x="5897880" y="15544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978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194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260604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serializes the whole pipeline</a:t>
            </a:r>
            <a:endParaRPr lang="en-US" sz="1200" dirty="0"/>
          </a:p>
        </p:txBody>
      </p:sp>
      <p:sp>
        <p:nvSpPr>
          <p:cNvPr id="23" name="Step Serve"/>
          <p:cNvSpPr/>
          <p:nvPr/>
        </p:nvSpPr>
        <p:spPr>
          <a:xfrm>
            <a:off x="7040880" y="1371600"/>
            <a:ext cx="1508760" cy="2651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ep badge Serve"/>
          <p:cNvSpPr/>
          <p:nvPr/>
        </p:nvSpPr>
        <p:spPr>
          <a:xfrm>
            <a:off x="7543800" y="15544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43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194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60604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page + JSON API, gunicorn ready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 runs steps 1-4;  app.py handles step 5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K = 5 is the clear best choice</a:t>
            </a:r>
            <a:endParaRPr lang="en-US" sz="2800" dirty="0"/>
          </a:p>
        </p:txBody>
      </p:sp>
      <p:pic>
        <p:nvPicPr>
          <p:cNvPr id="3" name="Elbow and silhouette chart" descr="Elbow curve and silhouette score for K from 2 to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760720" cy="2093976"/>
          </a:xfrm>
          <a:prstGeom prst="rect">
            <a:avLst/>
          </a:prstGeom>
        </p:spPr>
      </p:pic>
      <p:sp>
        <p:nvSpPr>
          <p:cNvPr id="4" name="Callout K"/>
          <p:cNvSpPr/>
          <p:nvPr/>
        </p:nvSpPr>
        <p:spPr>
          <a:xfrm>
            <a:off x="6492240" y="1143000"/>
            <a:ext cx="2194560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0.555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silhouette score, reached at K = 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of the inertia curve also appears at K = 5.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204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 to 10 were tested. Silhouette: 0.321 at K=2, 0.494 at K=4, 0.555 at K=5, 0.540 at K=6.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Why K-Means? Five algorithms compared</a:t>
            </a:r>
            <a:endParaRPr lang="en-US" sz="2800" dirty="0"/>
          </a:p>
        </p:txBody>
      </p:sp>
      <p:pic>
        <p:nvPicPr>
          <p:cNvPr id="3" name="Algorithm comparison chart" descr="Bar chart of silhouette scores for five clustering algorith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754880" cy="22585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test (K-Means, K=5): Income + Spending 0.555, adding Age 0.417, adding Gender too 0.304</a:t>
            </a:r>
            <a:endParaRPr lang="en-US" sz="1300" dirty="0"/>
          </a:p>
        </p:txBody>
      </p:sp>
      <p:sp>
        <p:nvSpPr>
          <p:cNvPr id="5" name="Why Top 3 tie"/>
          <p:cNvSpPr/>
          <p:nvPr/>
        </p:nvSpPr>
        <p:spPr>
          <a:xfrm>
            <a:off x="5486400" y="105156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0" y="1124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tie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39903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Ward and Gaussian Mixture all score 0.554-0.555: the groups are compact and round, so the choice barely matters.</a:t>
            </a:r>
            <a:endParaRPr lang="en-US" sz="1200" dirty="0"/>
          </a:p>
        </p:txBody>
      </p:sp>
      <p:sp>
        <p:nvSpPr>
          <p:cNvPr id="8" name="Why DBSCAN"/>
          <p:cNvSpPr/>
          <p:nvPr/>
        </p:nvSpPr>
        <p:spPr>
          <a:xfrm>
            <a:off x="5486400" y="22402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2313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258775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0.558 only after setting aside 23 customers as noise, and it cannot predict new ones.</a:t>
            </a:r>
            <a:endParaRPr lang="en-US" sz="1200" dirty="0"/>
          </a:p>
        </p:txBody>
      </p:sp>
      <p:sp>
        <p:nvSpPr>
          <p:cNvPr id="11" name="Why Why K-Means"/>
          <p:cNvSpPr/>
          <p:nvPr/>
        </p:nvSpPr>
        <p:spPr>
          <a:xfrm>
            <a:off x="5486400" y="342900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0" y="3502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K-Means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377647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gets a segment, predict() works for the API, and centroids are easy to explain.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Five segments, clearly separated</a:t>
            </a:r>
            <a:endParaRPr lang="en-US" sz="2800" dirty="0"/>
          </a:p>
        </p:txBody>
      </p:sp>
      <p:sp>
        <p:nvSpPr>
          <p:cNvPr id="3" name="Metric Silhouette"/>
          <p:cNvSpPr/>
          <p:nvPr/>
        </p:nvSpPr>
        <p:spPr>
          <a:xfrm>
            <a:off x="457200" y="1188720"/>
            <a:ext cx="30175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0.555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400" dirty="0"/>
          </a:p>
        </p:txBody>
      </p:sp>
      <p:sp>
        <p:nvSpPr>
          <p:cNvPr id="6" name="Metric Davies-Bouldin (lower is better)"/>
          <p:cNvSpPr/>
          <p:nvPr/>
        </p:nvSpPr>
        <p:spPr>
          <a:xfrm>
            <a:off x="457200" y="2697480"/>
            <a:ext cx="30175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0.572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(lower is better)</a:t>
            </a:r>
            <a:endParaRPr lang="en-US" sz="1400" dirty="0"/>
          </a:p>
        </p:txBody>
      </p:sp>
      <p:graphicFrame>
        <p:nvGraphicFramePr>
          <p:cNvPr id="9" name="Segment size chart"/>
          <p:cNvGraphicFramePr/>
          <p:nvPr/>
        </p:nvGraphicFramePr>
        <p:xfrm>
          <a:off x="3749040" y="1097280"/>
          <a:ext cx="49377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each segment means</a:t>
            </a:r>
            <a:endParaRPr lang="en-US" sz="2800" dirty="0"/>
          </a:p>
        </p:txBody>
      </p:sp>
      <p:pic>
        <p:nvPicPr>
          <p:cNvPr id="3" name="Cluster scatter plot" descr="Scatter plot of the five customer segments by income and spending sc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114800" cy="3086100"/>
          </a:xfrm>
          <a:prstGeom prst="rect">
            <a:avLst/>
          </a:prstGeom>
        </p:spPr>
      </p:pic>
      <p:sp>
        <p:nvSpPr>
          <p:cNvPr id="4" name="Dot Premium Shoppers"/>
          <p:cNvSpPr/>
          <p:nvPr/>
        </p:nvSpPr>
        <p:spPr>
          <a:xfrm>
            <a:off x="4846320" y="1161288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2578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Shoppers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2578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income, high spend: VIP rewards</a:t>
            </a:r>
            <a:endParaRPr lang="en-US" sz="1300" dirty="0"/>
          </a:p>
        </p:txBody>
      </p:sp>
      <p:sp>
        <p:nvSpPr>
          <p:cNvPr id="7" name="Dot Careful Spenders"/>
          <p:cNvSpPr/>
          <p:nvPr/>
        </p:nvSpPr>
        <p:spPr>
          <a:xfrm>
            <a:off x="4846320" y="1801368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2578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Spenders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2578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income, low spend: personalised offers</a:t>
            </a:r>
            <a:endParaRPr lang="en-US" sz="1300" dirty="0"/>
          </a:p>
        </p:txBody>
      </p:sp>
      <p:sp>
        <p:nvSpPr>
          <p:cNvPr id="10" name="Dot Impulsive Spenders"/>
          <p:cNvSpPr/>
          <p:nvPr/>
        </p:nvSpPr>
        <p:spPr>
          <a:xfrm>
            <a:off x="4846320" y="2441448"/>
            <a:ext cx="256032" cy="25603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578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Impulsive Spenders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income, high spend: flash sales</a:t>
            </a:r>
            <a:endParaRPr lang="en-US" sz="1300" dirty="0"/>
          </a:p>
        </p:txBody>
      </p:sp>
      <p:sp>
        <p:nvSpPr>
          <p:cNvPr id="13" name="Dot Budget Customers"/>
          <p:cNvSpPr/>
          <p:nvPr/>
        </p:nvSpPr>
        <p:spPr>
          <a:xfrm>
            <a:off x="4846320" y="3081528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5780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Customers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income, low spend: coupons, bundles</a:t>
            </a:r>
            <a:endParaRPr lang="en-US" sz="1300" dirty="0"/>
          </a:p>
        </p:txBody>
      </p:sp>
      <p:sp>
        <p:nvSpPr>
          <p:cNvPr id="16" name="Dot Average Shoppers"/>
          <p:cNvSpPr/>
          <p:nvPr/>
        </p:nvSpPr>
        <p:spPr>
          <a:xfrm>
            <a:off x="4846320" y="3721608"/>
            <a:ext cx="256032" cy="25603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578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Shoppers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25780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income, mid spend: seasonal promos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Bias and ethics: what was checked</a:t>
            </a:r>
            <a:endParaRPr lang="en-US" sz="2800" dirty="0"/>
          </a:p>
        </p:txBody>
      </p:sp>
      <p:sp>
        <p:nvSpPr>
          <p:cNvPr id="3" name="Ethics Gender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thics dot Gender"/>
          <p:cNvSpPr/>
          <p:nvPr/>
        </p:nvSpPr>
        <p:spPr>
          <a:xfrm>
            <a:off x="640080" y="1389888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344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the model. Chi-square test: p = 0.693, no sign segments depend on gender.</a:t>
            </a:r>
            <a:endParaRPr lang="en-US" sz="1300" dirty="0"/>
          </a:p>
        </p:txBody>
      </p:sp>
      <p:sp>
        <p:nvSpPr>
          <p:cNvPr id="7" name="Ethics Age as a proxy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thics dot Age as a proxy"/>
          <p:cNvSpPr/>
          <p:nvPr/>
        </p:nvSpPr>
        <p:spPr>
          <a:xfrm>
            <a:off x="4846320" y="1389888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57800" y="1344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as a proxy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8288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feature, yet Impulsive Spenders are all 18-35. Never use segments for pricing, credit or service.</a:t>
            </a:r>
            <a:endParaRPr lang="en-US" sz="1300" dirty="0"/>
          </a:p>
        </p:txBody>
      </p:sp>
      <p:sp>
        <p:nvSpPr>
          <p:cNvPr id="11" name="Ethics Unknown score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Ethics dot Unknown score"/>
          <p:cNvSpPr/>
          <p:nvPr/>
        </p:nvSpPr>
        <p:spPr>
          <a:xfrm>
            <a:off x="640080" y="2990088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2944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score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290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Spending Score formula and the 200-customer sample are undocumented, so do not generalise.</a:t>
            </a:r>
            <a:endParaRPr lang="en-US" sz="1300" dirty="0"/>
          </a:p>
        </p:txBody>
      </p:sp>
      <p:sp>
        <p:nvSpPr>
          <p:cNvPr id="15" name="Ethics Privacy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thics dot Privacy"/>
          <p:cNvSpPr/>
          <p:nvPr/>
        </p:nvSpPr>
        <p:spPr>
          <a:xfrm>
            <a:off x="4846320" y="2990088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57800" y="2944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4290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stores nothing. Profiling needs consent and a lawful purpose (GDPR, India DPDP Act 2023).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Serialize once, serve through an API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143000"/>
            <a:ext cx="4297680" cy="3108960"/>
          </a:xfrm>
          <a:prstGeom prst="roundRect">
            <a:avLst>
              <a:gd name="adj" fmla="val 294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train_model.py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joblib.dump(pipeline,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"models/customer_segmentation.joblib")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joblib.load(MODEL_PATH)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= model.predict(X)[0]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{"annual_income": 90,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"spending_score": 85}</a:t>
            </a:r>
            <a:endParaRPr lang="en-US" sz="1200" dirty="0"/>
          </a:p>
        </p:txBody>
      </p:sp>
      <p:sp>
        <p:nvSpPr>
          <p:cNvPr id="5" name="Route GET /"/>
          <p:cNvSpPr/>
          <p:nvPr/>
        </p:nvSpPr>
        <p:spPr>
          <a:xfrm>
            <a:off x="5029200" y="114300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0" y="11430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143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300" dirty="0"/>
          </a:p>
        </p:txBody>
      </p:sp>
      <p:sp>
        <p:nvSpPr>
          <p:cNvPr id="8" name="Route GET /health"/>
          <p:cNvSpPr/>
          <p:nvPr/>
        </p:nvSpPr>
        <p:spPr>
          <a:xfrm>
            <a:off x="5029200" y="192024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9202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9202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300" dirty="0"/>
          </a:p>
        </p:txBody>
      </p:sp>
      <p:sp>
        <p:nvSpPr>
          <p:cNvPr id="11" name="Route GET /api/info"/>
          <p:cNvSpPr/>
          <p:nvPr/>
        </p:nvSpPr>
        <p:spPr>
          <a:xfrm>
            <a:off x="5029200" y="269748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26974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/api/info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697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segment details</a:t>
            </a:r>
            <a:endParaRPr lang="en-US" sz="1300" dirty="0"/>
          </a:p>
        </p:txBody>
      </p:sp>
      <p:sp>
        <p:nvSpPr>
          <p:cNvPr id="14" name="Route POST /predict"/>
          <p:cNvSpPr/>
          <p:nvPr/>
        </p:nvSpPr>
        <p:spPr>
          <a:xfrm>
            <a:off x="5029200" y="3474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34747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34747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one customer's segment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 returns HTTP 400 with a clear error message.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The running web application</a:t>
            </a:r>
            <a:endParaRPr lang="en-US" sz="2800" dirty="0"/>
          </a:p>
        </p:txBody>
      </p:sp>
      <p:pic>
        <p:nvPicPr>
          <p:cNvPr id="3" name="Web app screenshot" descr="Screenshot of the segmentation web app predicting Premium Shopp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200400" cy="3273552"/>
          </a:xfrm>
          <a:prstGeom prst="rect">
            <a:avLst/>
          </a:prstGeom>
        </p:spPr>
      </p:pic>
      <p:sp>
        <p:nvSpPr>
          <p:cNvPr id="4" name="Flow Enter"/>
          <p:cNvSpPr/>
          <p:nvPr/>
        </p:nvSpPr>
        <p:spPr>
          <a:xfrm>
            <a:off x="4114800" y="118872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low badge Enter"/>
          <p:cNvSpPr/>
          <p:nvPr/>
        </p:nvSpPr>
        <p:spPr>
          <a:xfrm>
            <a:off x="4297680" y="1389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9768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1298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16276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and spending score</a:t>
            </a:r>
            <a:endParaRPr lang="en-US" sz="1300" dirty="0"/>
          </a:p>
        </p:txBody>
      </p:sp>
      <p:sp>
        <p:nvSpPr>
          <p:cNvPr id="9" name="Flow Predict"/>
          <p:cNvSpPr/>
          <p:nvPr/>
        </p:nvSpPr>
        <p:spPr>
          <a:xfrm>
            <a:off x="4114800" y="224028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low badge Predict"/>
          <p:cNvSpPr/>
          <p:nvPr/>
        </p:nvSpPr>
        <p:spPr>
          <a:xfrm>
            <a:off x="4297680" y="2441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2350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2679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calls POST /predict</a:t>
            </a:r>
            <a:endParaRPr lang="en-US" sz="1300" dirty="0"/>
          </a:p>
        </p:txBody>
      </p:sp>
      <p:sp>
        <p:nvSpPr>
          <p:cNvPr id="14" name="Flow Result"/>
          <p:cNvSpPr/>
          <p:nvPr/>
        </p:nvSpPr>
        <p:spPr>
          <a:xfrm>
            <a:off x="4114800" y="329184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Flow badge Result"/>
          <p:cNvSpPr/>
          <p:nvPr/>
        </p:nvSpPr>
        <p:spPr>
          <a:xfrm>
            <a:off x="4297680" y="34930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9768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3401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3730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name and marketing advice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17 automated tests, all passing</a:t>
            </a:r>
            <a:endParaRPr lang="en-US" sz="2800" dirty="0"/>
          </a:p>
        </p:txBody>
      </p:sp>
      <p:sp>
        <p:nvSpPr>
          <p:cNvPr id="3" name="Test count"/>
          <p:cNvSpPr/>
          <p:nvPr/>
        </p:nvSpPr>
        <p:spPr>
          <a:xfrm>
            <a:off x="457200" y="1188720"/>
            <a:ext cx="2743200" cy="29260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17/17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 passed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08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live checks with curl and a browser</a:t>
            </a:r>
            <a:endParaRPr lang="en-US" sz="1300" dirty="0"/>
          </a:p>
        </p:txBody>
      </p:sp>
      <p:sp>
        <p:nvSpPr>
          <p:cNvPr id="7" name="Test group Pages and endpoints"/>
          <p:cNvSpPr/>
          <p:nvPr/>
        </p:nvSpPr>
        <p:spPr>
          <a:xfrm>
            <a:off x="3474720" y="1188720"/>
            <a:ext cx="52120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and endpoints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188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/health, /api/info</a:t>
            </a:r>
            <a:endParaRPr lang="en-US" sz="1300" dirty="0"/>
          </a:p>
        </p:txBody>
      </p:sp>
      <p:sp>
        <p:nvSpPr>
          <p:cNvPr id="10" name="Test group All 5 segments"/>
          <p:cNvSpPr/>
          <p:nvPr/>
        </p:nvSpPr>
        <p:spPr>
          <a:xfrm>
            <a:off x="3474720" y="1938528"/>
            <a:ext cx="52120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9385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segments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9385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customer per segment</a:t>
            </a:r>
            <a:endParaRPr lang="en-US" sz="1300" dirty="0"/>
          </a:p>
        </p:txBody>
      </p:sp>
      <p:sp>
        <p:nvSpPr>
          <p:cNvPr id="13" name="Test group Bad input rejected"/>
          <p:cNvSpPr/>
          <p:nvPr/>
        </p:nvSpPr>
        <p:spPr>
          <a:xfrm>
            <a:off x="3474720" y="2688336"/>
            <a:ext cx="52120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268833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 rejected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268833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missing, text, negative, out of range</a:t>
            </a:r>
            <a:endParaRPr lang="en-US" sz="1300" dirty="0"/>
          </a:p>
        </p:txBody>
      </p:sp>
      <p:sp>
        <p:nvSpPr>
          <p:cNvPr id="16" name="Test group Wrong requests"/>
          <p:cNvSpPr/>
          <p:nvPr/>
        </p:nvSpPr>
        <p:spPr>
          <a:xfrm>
            <a:off x="3474720" y="3438144"/>
            <a:ext cx="52120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0" y="34381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requests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43814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non-JSON body, wrong method, unknown route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Deploy to the cloud in four steps</a:t>
            </a:r>
            <a:endParaRPr lang="en-US" sz="2800" dirty="0"/>
          </a:p>
        </p:txBody>
      </p:sp>
      <p:sp>
        <p:nvSpPr>
          <p:cNvPr id="3" name="Deploy Push"/>
          <p:cNvSpPr/>
          <p:nvPr/>
        </p:nvSpPr>
        <p:spPr>
          <a:xfrm>
            <a:off x="45720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folder to GitHub</a:t>
            </a:r>
            <a:endParaRPr lang="en-US" sz="1300" dirty="0"/>
          </a:p>
        </p:txBody>
      </p:sp>
      <p:sp>
        <p:nvSpPr>
          <p:cNvPr id="7" name="Deploy Connect"/>
          <p:cNvSpPr/>
          <p:nvPr/>
        </p:nvSpPr>
        <p:spPr>
          <a:xfrm>
            <a:off x="2542032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24912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24912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Web Service on Render, pick the repo</a:t>
            </a:r>
            <a:endParaRPr lang="en-US" sz="1300" dirty="0"/>
          </a:p>
        </p:txBody>
      </p:sp>
      <p:sp>
        <p:nvSpPr>
          <p:cNvPr id="11" name="Deploy Build"/>
          <p:cNvSpPr/>
          <p:nvPr/>
        </p:nvSpPr>
        <p:spPr>
          <a:xfrm>
            <a:off x="4626864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9744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809744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 installs packages and trains the model</a:t>
            </a:r>
            <a:endParaRPr lang="en-US" sz="1300" dirty="0"/>
          </a:p>
        </p:txBody>
      </p:sp>
      <p:sp>
        <p:nvSpPr>
          <p:cNvPr id="15" name="Deploy Live"/>
          <p:cNvSpPr/>
          <p:nvPr/>
        </p:nvSpPr>
        <p:spPr>
          <a:xfrm>
            <a:off x="6711696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94576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894576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94576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serves the app; /health is monitored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supported through the Procfile: Railway, Heroku, PythonAnywhere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Check dot 0"/>
          <p:cNvSpPr/>
          <p:nvPr/>
        </p:nvSpPr>
        <p:spPr>
          <a:xfrm>
            <a:off x="640080" y="138988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32588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data and a scaled K-Means pipeline, silhouette 0.555</a:t>
            </a:r>
            <a:endParaRPr lang="en-US" sz="1600" dirty="0"/>
          </a:p>
        </p:txBody>
      </p:sp>
      <p:sp>
        <p:nvSpPr>
          <p:cNvPr id="5" name="Check dot 1"/>
          <p:cNvSpPr/>
          <p:nvPr/>
        </p:nvSpPr>
        <p:spPr>
          <a:xfrm>
            <a:off x="640080" y="19568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serialized with Joblib and served by Flask</a:t>
            </a:r>
            <a:endParaRPr lang="en-US" sz="1600" dirty="0"/>
          </a:p>
        </p:txBody>
      </p:sp>
      <p:sp>
        <p:nvSpPr>
          <p:cNvPr id="7" name="Check dot 2"/>
          <p:cNvSpPr/>
          <p:nvPr/>
        </p:nvSpPr>
        <p:spPr>
          <a:xfrm>
            <a:off x="640080" y="252374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45973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 and JSON API with input validation</a:t>
            </a:r>
            <a:endParaRPr lang="en-US" sz="1600" dirty="0"/>
          </a:p>
        </p:txBody>
      </p:sp>
      <p:sp>
        <p:nvSpPr>
          <p:cNvPr id="9" name="Check dot 3"/>
          <p:cNvSpPr/>
          <p:nvPr/>
        </p:nvSpPr>
        <p:spPr>
          <a:xfrm>
            <a:off x="640080" y="309067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026664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passing tests; cloud-ready with gunicorn and render.yaml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 and Gender to the model  |  CSV batch prediction  |  Docker image  |  Scheduled retraining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ll Segmentation">
  <a:themeElements>
    <a:clrScheme name="Mall Segmentation">
      <a:dk1>
        <a:srgbClr val="1F2937"/>
      </a:dk1>
      <a:lt1>
        <a:srgbClr val="FFFFFF"/>
      </a:lt1>
      <a:dk2>
        <a:srgbClr val="0B2545"/>
      </a:dk2>
      <a:lt2>
        <a:srgbClr val="F1F5F9"/>
      </a:lt2>
      <a:accent1>
        <a:srgbClr val="13A89E"/>
      </a:accent1>
      <a:accent2>
        <a:srgbClr val="F59E0B"/>
      </a:accent2>
      <a:accent3>
        <a:srgbClr val="EF476F"/>
      </a:accent3>
      <a:accent4>
        <a:srgbClr val="7C3AED"/>
      </a:accent4>
      <a:accent5>
        <a:srgbClr val="2563EB"/>
      </a:accent5>
      <a:accent6>
        <a:srgbClr val="059669"/>
      </a:accent6>
      <a:hlink>
        <a:srgbClr val="2563EB"/>
      </a:hlink>
      <a:folHlink>
        <a:srgbClr val="7C3AED"/>
      </a:folHlink>
    </a:clrScheme>
    <a:fontScheme name="Mall Segment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849</Words>
  <Application>Microsoft Office PowerPoint</Application>
  <PresentationFormat>On-screen Show (16:9)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Mall Segmentation</vt:lpstr>
      <vt:lpstr>PowerPoint Presentation</vt:lpstr>
      <vt:lpstr>Why segment mall customers?</vt:lpstr>
      <vt:lpstr>The dataset: 200 customers, 5 columns</vt:lpstr>
      <vt:lpstr>End-to-end pipeline</vt:lpstr>
      <vt:lpstr>K = 5 is the clear best choice</vt:lpstr>
      <vt:lpstr>Why K-Means? Five algorithms compared</vt:lpstr>
      <vt:lpstr>Five segments, clearly separated</vt:lpstr>
      <vt:lpstr>What each segment means</vt:lpstr>
      <vt:lpstr>Bias and ethics: what was checked</vt:lpstr>
      <vt:lpstr>Serialize once, serve through an API</vt:lpstr>
      <vt:lpstr>The running web application</vt:lpstr>
      <vt:lpstr>17 automated tests, all passing</vt:lpstr>
      <vt:lpstr>Deploy to the cloud in four steps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 Customer Segmentation - Week 4 Capstone</dc:title>
  <dc:subject>PptxGenJS Presentation</dc:subject>
  <dc:creator>PptxGenJS</dc:creator>
  <cp:lastModifiedBy>Ayan Dhara</cp:lastModifiedBy>
  <cp:revision>2</cp:revision>
  <dcterms:created xsi:type="dcterms:W3CDTF">2026-10-23T06:51:41Z</dcterms:created>
  <dcterms:modified xsi:type="dcterms:W3CDTF">2026-10-23T09:31:13Z</dcterms:modified>
</cp:coreProperties>
</file>